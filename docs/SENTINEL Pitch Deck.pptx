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465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577840"/>
            <a:ext cx="457200" cy="1280160"/>
          </a:xfrm>
          <a:prstGeom prst="rect">
            <a:avLst/>
          </a:prstGeom>
          <a:solidFill>
            <a:srgbClr val="24365C">
              <a:alpha val="7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548640" y="5029200"/>
            <a:ext cx="320040" cy="1828800"/>
          </a:xfrm>
          <a:prstGeom prst="rect">
            <a:avLst/>
          </a:prstGeom>
          <a:solidFill>
            <a:srgbClr val="24365C">
              <a:alpha val="7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960120" y="5852160"/>
            <a:ext cx="457200" cy="1005840"/>
          </a:xfrm>
          <a:prstGeom prst="rect">
            <a:avLst/>
          </a:prstGeom>
          <a:solidFill>
            <a:srgbClr val="24365C">
              <a:alpha val="7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1508760" y="4663440"/>
            <a:ext cx="365760" cy="2194560"/>
          </a:xfrm>
          <a:prstGeom prst="rect">
            <a:avLst/>
          </a:prstGeom>
          <a:solidFill>
            <a:srgbClr val="24365C">
              <a:alpha val="7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1965960" y="5394960"/>
            <a:ext cx="502920" cy="1463040"/>
          </a:xfrm>
          <a:prstGeom prst="rect">
            <a:avLst/>
          </a:prstGeom>
          <a:solidFill>
            <a:srgbClr val="24365C">
              <a:alpha val="7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9692640" y="5212080"/>
            <a:ext cx="457200" cy="1645920"/>
          </a:xfrm>
          <a:prstGeom prst="rect">
            <a:avLst/>
          </a:prstGeom>
          <a:solidFill>
            <a:srgbClr val="24365C">
              <a:alpha val="7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10241280" y="5760720"/>
            <a:ext cx="365760" cy="1097280"/>
          </a:xfrm>
          <a:prstGeom prst="rect">
            <a:avLst/>
          </a:prstGeom>
          <a:solidFill>
            <a:srgbClr val="24365C">
              <a:alpha val="7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10698480" y="4846320"/>
            <a:ext cx="502920" cy="2011680"/>
          </a:xfrm>
          <a:prstGeom prst="rect">
            <a:avLst/>
          </a:prstGeom>
          <a:solidFill>
            <a:srgbClr val="24365C">
              <a:alpha val="7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11292840" y="5486400"/>
            <a:ext cx="365760" cy="1371600"/>
          </a:xfrm>
          <a:prstGeom prst="rect">
            <a:avLst/>
          </a:prstGeom>
          <a:solidFill>
            <a:srgbClr val="24365C">
              <a:alpha val="7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11750040" y="5943600"/>
            <a:ext cx="411480" cy="914400"/>
          </a:xfrm>
          <a:prstGeom prst="rect">
            <a:avLst/>
          </a:prstGeom>
          <a:solidFill>
            <a:srgbClr val="24365C">
              <a:alpha val="7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2743200" y="1097280"/>
            <a:ext cx="6675120" cy="0"/>
          </a:xfrm>
          <a:prstGeom prst="line">
            <a:avLst/>
          </a:prstGeom>
          <a:noFill/>
          <a:ln w="6350">
            <a:solidFill>
              <a:srgbClr val="D4A843">
                <a:alpha val="30000"/>
              </a:srgbClr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2743200" y="1554480"/>
            <a:ext cx="6675120" cy="0"/>
          </a:xfrm>
          <a:prstGeom prst="line">
            <a:avLst/>
          </a:prstGeom>
          <a:noFill/>
          <a:ln w="6350">
            <a:solidFill>
              <a:srgbClr val="D4A843">
                <a:alpha val="30000"/>
              </a:srgbClr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2743200" y="2011680"/>
            <a:ext cx="6675120" cy="0"/>
          </a:xfrm>
          <a:prstGeom prst="line">
            <a:avLst/>
          </a:prstGeom>
          <a:noFill/>
          <a:ln w="6350">
            <a:solidFill>
              <a:srgbClr val="D4A843">
                <a:alpha val="30000"/>
              </a:srgbClr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0" y="23317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GSMA MENA IGNITE HACKATHON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269748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371600" y="37033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Urban Incident Detection with Network Intelligence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2: Smart Cities, Urban Safety and Mega-Project Infrastructure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1100" dirty="0" err="1">
                <a:solidFill>
                  <a:srgbClr val="88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Mewo</a:t>
            </a:r>
            <a:r>
              <a:rPr lang="en-US" sz="1100" dirty="0">
                <a:solidFill>
                  <a:srgbClr val="88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Muhammed Rabeeh Mattath | rabeehmattath1998@gmail.com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respond to emergencies blind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24365C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1440180" y="2057400"/>
            <a:ext cx="822960" cy="82296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44018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there?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confirm the reporter is actually at the scene.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0712" y="1691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24365C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4302252" y="2057400"/>
            <a:ext cx="822960" cy="82296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4302252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real?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93592" y="36118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if the phone number is legitimate or spoofed.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1691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24365C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7164324" y="2057400"/>
            <a:ext cx="822960" cy="82296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7164324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9944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duplicate?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55664" y="36118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tell if this report was already called in.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34856" y="16916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24365C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10026396" y="2057400"/>
            <a:ext cx="822960" cy="822960"/>
          </a:xfrm>
          <a:prstGeom prst="ellipse">
            <a:avLst/>
          </a:prstGeom>
          <a:solidFill>
            <a:srgbClr val="5FAE7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10026396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72016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urgent?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17736" y="36118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prioritize genuine emergencies over stale ones.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0" y="52578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wasted resources, delayed responses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validates every report in </a:t>
            </a:r>
            <a:r>
              <a:rPr lang="en-US" sz="3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seconds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 w="19050">
            <a:solidFill>
              <a:srgbClr val="8892A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1161288" y="2633472"/>
            <a:ext cx="512064" cy="512064"/>
          </a:xfrm>
          <a:prstGeom prst="ellipse">
            <a:avLst/>
          </a:prstGeom>
          <a:solidFill>
            <a:srgbClr val="8892A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161288" y="2633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278892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743200" y="246888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3401568" y="2633472"/>
            <a:ext cx="512064" cy="512064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3401568" y="2633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78892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983480" y="246888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 w="1905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5641848" y="2633472"/>
            <a:ext cx="512064" cy="51206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5641848" y="2633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78892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223760" y="246888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 w="1905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7882128" y="2633472"/>
            <a:ext cx="512064" cy="512064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7882128" y="2633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0" y="278892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464040" y="246888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 w="19050">
            <a:solidFill>
              <a:srgbClr val="5FAE7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10122408" y="2633472"/>
            <a:ext cx="512064" cy="512064"/>
          </a:xfrm>
          <a:prstGeom prst="ellipse">
            <a:avLst/>
          </a:prstGeom>
          <a:solidFill>
            <a:srgbClr val="5FAE7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10122408" y="2633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64040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4348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decides which CAMARA APIs to call based on context, not a button press.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512064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SEC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API Usage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2062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</a:rPr>
                        <a:t>API</a:t>
                      </a:r>
                      <a:endParaRPr lang="en-US" sz="15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</a:rPr>
                        <a:t>How SENTINEL Uses It</a:t>
                      </a:r>
                      <a:endParaRPr lang="en-US" sz="15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Location Verification</a:t>
                      </a:r>
                      <a:endParaRPr lang="en-US" sz="14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AAB2C0"/>
                          </a:solidFill>
                        </a:rPr>
                        <a:t>Confirms the reporter is physically near the incident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Primary trust signal for every report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Number Verification</a:t>
                      </a:r>
                      <a:endParaRPr lang="en-US" sz="14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AAB2C0"/>
                          </a:solidFill>
                        </a:rPr>
                        <a:t>Confirms the phone number is real and not spoofed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Blocks coordinated fake-report attacks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Device Status</a:t>
                      </a:r>
                      <a:endParaRPr lang="en-US" sz="14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AAB2C0"/>
                          </a:solidFill>
                        </a:rPr>
                        <a:t>Confirms the device is active and connected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Filters stale or resubmitted reports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Geofencing</a:t>
                      </a:r>
                      <a:endParaRPr lang="en-US" sz="14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AAB2C0"/>
                          </a:solidFill>
                        </a:rPr>
                        <a:t>Monitors high-risk zones for clustered activity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Triggers escalation for emerging incidents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1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24365C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2011680" y="2057400"/>
            <a:ext cx="914400" cy="9144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201168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Agent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CAMARA APIs to call based on report context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16459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24365C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5760720" y="2057400"/>
            <a:ext cx="914400" cy="91440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576072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0916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Agent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incidents by type, severity, and sector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75320" y="164592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24365C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9509760" y="2057400"/>
            <a:ext cx="914400" cy="91440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950976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5820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9536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emerging clusters and escalation patterns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0" y="5577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CrewAI  |  Powered by Groq Llama 3.3 70B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 w="1905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960120" y="1645920"/>
            <a:ext cx="201168" cy="201168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 / Telegram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9080" y="146304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26280" y="146304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 w="1905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orchestration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146304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275320" y="146304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 w="1905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8458200" y="1645920"/>
            <a:ext cx="201168" cy="201168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8732520" y="1554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APIs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278892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333756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 w="1905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960120" y="3520440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1234440" y="34290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69080" y="33375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526280" y="333756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 w="19050">
            <a:solidFill>
              <a:srgbClr val="5FAE7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4709160" y="3520440"/>
            <a:ext cx="201168" cy="201168"/>
          </a:xfrm>
          <a:prstGeom prst="ellipse">
            <a:avLst/>
          </a:prstGeom>
          <a:solidFill>
            <a:srgbClr val="5FAE7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4983480" y="34290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0916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18120" y="33375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275320" y="333756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Shape 29"/>
          <p:cNvSpPr/>
          <p:nvPr/>
        </p:nvSpPr>
        <p:spPr>
          <a:xfrm>
            <a:off x="8458200" y="3520440"/>
            <a:ext cx="201168" cy="201168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8732520" y="34290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ALERTS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Telegram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is color-coded and traceable end to end, from citizen report to dispatched alert.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command center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24365C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Incidents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2344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24365C"/>
          </a:solidFill>
          <a:ln w="12700">
            <a:solidFill>
              <a:srgbClr val="5FAE7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3410712" y="1325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FA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10712" y="1856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Validation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2784" y="12344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24365C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6272784" y="1325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72784" y="1856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Avg.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34856" y="12344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24365C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9134856" y="1325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34856" y="1856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Today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11091672" cy="3566160"/>
          </a:xfrm>
          <a:prstGeom prst="roundRect">
            <a:avLst>
              <a:gd name="adj" fmla="val 2051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77724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FEED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3108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777240" y="3108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310896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collision, Sheikh Zayed 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9760" y="3108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96%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382219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777240" y="38221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1720" y="382219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reported, Al Barsha underpass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09760" y="38221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88%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7240" y="4535424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777240" y="45354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31720" y="4535424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alarm, Business Bay tower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509760" y="453542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74%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" y="524865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5FAE7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777240" y="5248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31720" y="5248656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debris, Al Khail Road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09760" y="52486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61%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3383280" cy="2971800"/>
          </a:xfrm>
          <a:prstGeom prst="roundRect">
            <a:avLst>
              <a:gd name="adj" fmla="val 3692"/>
            </a:avLst>
          </a:prstGeom>
          <a:solidFill>
            <a:srgbClr val="3A435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 incidents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218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city zone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6027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only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D4A843"/>
          </a:solidFill>
          <a:ln/>
          <a:effectLst>
            <a:outerShdw blurRad="101600" dist="508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452628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1691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6280" y="21488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1,000 incidents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218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zones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027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Telegram alerts + API access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75320" y="1463040"/>
            <a:ext cx="3383280" cy="2971800"/>
          </a:xfrm>
          <a:prstGeom prst="roundRect">
            <a:avLst>
              <a:gd name="adj" fmla="val 3692"/>
            </a:avLst>
          </a:prstGeom>
          <a:solidFill>
            <a:srgbClr val="2E417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8275320" y="1691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75320" y="21488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59536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incidents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0" y="3218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zones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0" y="36027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integrations + SLA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Potential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UAE: 7 emirates, each with municipalities and police forces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5257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14+ MENA countries with active smart city programs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56418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clients: construction, utilities, transport authorities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56418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Expands to any city with mobile network coverage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Live Demo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841248" y="185166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841248" y="18516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645920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sample incident report via the web form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6601968" y="185166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601968" y="18516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1645920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Validator Agent call Location, Number, and Device APIs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841248" y="3360420"/>
            <a:ext cx="548640" cy="548640"/>
          </a:xfrm>
          <a:prstGeom prst="ellipse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841248" y="33604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154680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trust score build in real time on screen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0" y="30175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6601968" y="3360420"/>
            <a:ext cx="548640" cy="548640"/>
          </a:xfrm>
          <a:prstGeom prst="ellipse">
            <a:avLst/>
          </a:prstGeom>
          <a:solidFill>
            <a:srgbClr val="5FAE7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6601968" y="33604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0" y="3154680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Classifier Agent tag type, severity, and sector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841248" y="48691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841248" y="48691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4663440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second nearby report to show anomaly clustering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0" y="45262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6601968" y="486918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6601968" y="48691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0" y="4663440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validated alert land on the dashboard and in Telegram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0" y="61722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 trace visible on screen throughout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75120" y="365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CAMARA APIs orchestrated by a multi-agent AI system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158191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Arabic, English, and Arabizi in one multilingual pipeline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11226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 finds clusters before individual reports do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64261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dashboard, real database, real alert delivery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developer who already shipped BASR (600+ signals)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pricing tiers, a viable business, not just a demo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23367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design for incremental partner adoption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75120" y="10515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675120" y="1188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1228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to alert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10515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9189720" y="1188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32688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signals per decision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26060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6675120" y="2743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12280" y="3474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covered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9720" y="26060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9189720" y="2743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326880" y="3474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+ MENA countries in reach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SENTINEL: Because every incident deserves to be verified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693</Words>
  <Application>Microsoft Office PowerPoint</Application>
  <PresentationFormat>Widescreen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Muhammed Mattath 2024006714</cp:lastModifiedBy>
  <cp:revision>2</cp:revision>
  <dcterms:created xsi:type="dcterms:W3CDTF">2026-08-19T19:39:22Z</dcterms:created>
  <dcterms:modified xsi:type="dcterms:W3CDTF">2026-08-19T20:23:42Z</dcterms:modified>
</cp:coreProperties>
</file>