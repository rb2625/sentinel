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465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457200" cy="128016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>
            <a:off x="548640" y="5029200"/>
            <a:ext cx="320040" cy="182880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Shape 2"/>
          <p:cNvSpPr/>
          <p:nvPr/>
        </p:nvSpPr>
        <p:spPr>
          <a:xfrm>
            <a:off x="960120" y="5852160"/>
            <a:ext cx="457200" cy="100584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1508760" y="4663440"/>
            <a:ext cx="365760" cy="219456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1965960" y="5394960"/>
            <a:ext cx="502920" cy="146304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Shape 5"/>
          <p:cNvSpPr/>
          <p:nvPr/>
        </p:nvSpPr>
        <p:spPr>
          <a:xfrm>
            <a:off x="9692640" y="5212080"/>
            <a:ext cx="457200" cy="164592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Shape 6"/>
          <p:cNvSpPr/>
          <p:nvPr/>
        </p:nvSpPr>
        <p:spPr>
          <a:xfrm>
            <a:off x="10241280" y="5760720"/>
            <a:ext cx="365760" cy="109728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hape 7"/>
          <p:cNvSpPr/>
          <p:nvPr/>
        </p:nvSpPr>
        <p:spPr>
          <a:xfrm>
            <a:off x="10698480" y="4846320"/>
            <a:ext cx="502920" cy="201168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hape 8"/>
          <p:cNvSpPr/>
          <p:nvPr/>
        </p:nvSpPr>
        <p:spPr>
          <a:xfrm>
            <a:off x="11292840" y="5486400"/>
            <a:ext cx="365760" cy="137160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11750040" y="5943600"/>
            <a:ext cx="411480" cy="914400"/>
          </a:xfrm>
          <a:prstGeom prst="rect">
            <a:avLst/>
          </a:prstGeom>
          <a:solidFill>
            <a:srgbClr val="24365C">
              <a:alpha val="7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2743200" y="1097280"/>
            <a:ext cx="6675120" cy="0"/>
          </a:xfrm>
          <a:prstGeom prst="line">
            <a:avLst/>
          </a:prstGeom>
          <a:noFill/>
          <a:ln w="6350">
            <a:solidFill>
              <a:srgbClr val="D4A843">
                <a:alpha val="30000"/>
              </a:srgbClr>
            </a:solidFill>
            <a:prstDash val="dash"/>
          </a:ln>
        </p:spPr>
        <p:txBody>
          <a:bodyPr/>
          <a:lstStyle/>
          <a:p>
            <a:endParaRPr lang="en-AE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6675120" cy="0"/>
          </a:xfrm>
          <a:prstGeom prst="line">
            <a:avLst/>
          </a:prstGeom>
          <a:noFill/>
          <a:ln w="6350">
            <a:solidFill>
              <a:srgbClr val="D4A843">
                <a:alpha val="30000"/>
              </a:srgbClr>
            </a:solidFill>
            <a:prstDash val="dash"/>
          </a:ln>
        </p:spPr>
        <p:txBody>
          <a:bodyPr/>
          <a:lstStyle/>
          <a:p>
            <a:endParaRPr lang="en-AE"/>
          </a:p>
        </p:txBody>
      </p:sp>
      <p:sp>
        <p:nvSpPr>
          <p:cNvPr id="14" name="Shape 12"/>
          <p:cNvSpPr/>
          <p:nvPr/>
        </p:nvSpPr>
        <p:spPr>
          <a:xfrm>
            <a:off x="2743200" y="2011680"/>
            <a:ext cx="6675120" cy="0"/>
          </a:xfrm>
          <a:prstGeom prst="line">
            <a:avLst/>
          </a:prstGeom>
          <a:noFill/>
          <a:ln w="6350">
            <a:solidFill>
              <a:srgbClr val="D4A843">
                <a:alpha val="30000"/>
              </a:srgbClr>
            </a:solidFill>
            <a:prstDash val="dash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0" y="23317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0" y="269748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371600" y="370332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Urban Incident Detection with Network Intelligence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2: Smart Cities, Urban Safety and Mega-Project Infrastructure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100" dirty="0" err="1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Mewo</a:t>
            </a:r>
            <a:r>
              <a:rPr lang="en-US" sz="11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Muhammed Rabeeh Mattath | rabeehmattath1998@gmail.com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respond to emergencies blind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06040" cy="3200400"/>
          </a:xfrm>
          <a:prstGeom prst="roundRect">
            <a:avLst>
              <a:gd name="adj" fmla="val 3509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1440180" y="2057400"/>
            <a:ext cx="822960" cy="822960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440180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there?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6118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confirm the reporter is actually at the scene.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10712" y="1691640"/>
            <a:ext cx="2606040" cy="3200400"/>
          </a:xfrm>
          <a:prstGeom prst="roundRect">
            <a:avLst>
              <a:gd name="adj" fmla="val 3509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4302252" y="2057400"/>
            <a:ext cx="822960" cy="82296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4302252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3063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real?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93592" y="36118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know if the phone number is legitimate or spoofed.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06040" cy="3200400"/>
          </a:xfrm>
          <a:prstGeom prst="roundRect">
            <a:avLst>
              <a:gd name="adj" fmla="val 3509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7164324" y="2057400"/>
            <a:ext cx="822960" cy="822960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7164324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9944" y="3063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duplicate?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55664" y="36118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tell if this report was already called in.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34856" y="1691640"/>
            <a:ext cx="2606040" cy="3200400"/>
          </a:xfrm>
          <a:prstGeom prst="roundRect">
            <a:avLst>
              <a:gd name="adj" fmla="val 3509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1" name="Shape 19"/>
          <p:cNvSpPr/>
          <p:nvPr/>
        </p:nvSpPr>
        <p:spPr>
          <a:xfrm>
            <a:off x="10026396" y="2057400"/>
            <a:ext cx="822960" cy="822960"/>
          </a:xfrm>
          <a:prstGeom prst="ellipse">
            <a:avLst/>
          </a:prstGeom>
          <a:solidFill>
            <a:srgbClr val="5FAE7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2" name="Text 20"/>
          <p:cNvSpPr/>
          <p:nvPr/>
        </p:nvSpPr>
        <p:spPr>
          <a:xfrm>
            <a:off x="10026396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72016" y="3063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urgent?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317736" y="36118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prioritize genuine emergencies over stale ones.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0" y="52578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wasted resources, delayed responses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validates every report in </a:t>
            </a:r>
            <a:r>
              <a:rPr lang="en-US" sz="3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9050">
            <a:solidFill>
              <a:srgbClr val="8892A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1161288" y="2633472"/>
            <a:ext cx="512064" cy="512064"/>
          </a:xfrm>
          <a:prstGeom prst="ellipse">
            <a:avLst/>
          </a:prstGeom>
          <a:solidFill>
            <a:srgbClr val="8892A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161288" y="26334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2735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788920"/>
            <a:ext cx="5120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905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3401568" y="2633472"/>
            <a:ext cx="512064" cy="512064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3401568" y="26334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32735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5577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983480" y="24688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5641848" y="2633472"/>
            <a:ext cx="512064" cy="512064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5641848" y="26334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2735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2788920"/>
            <a:ext cx="5120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223760" y="24688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9050">
            <a:solidFill>
              <a:srgbClr val="D9534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hape 19"/>
          <p:cNvSpPr/>
          <p:nvPr/>
        </p:nvSpPr>
        <p:spPr>
          <a:xfrm>
            <a:off x="7882128" y="2633472"/>
            <a:ext cx="512064" cy="512064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2" name="Text 20"/>
          <p:cNvSpPr/>
          <p:nvPr/>
        </p:nvSpPr>
        <p:spPr>
          <a:xfrm>
            <a:off x="7882128" y="26334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0" y="32735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52560" y="2788920"/>
            <a:ext cx="5120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464040" y="24688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9050">
            <a:solidFill>
              <a:srgbClr val="5FAE7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hape 24"/>
          <p:cNvSpPr/>
          <p:nvPr/>
        </p:nvSpPr>
        <p:spPr>
          <a:xfrm>
            <a:off x="10122408" y="2633472"/>
            <a:ext cx="512064" cy="512064"/>
          </a:xfrm>
          <a:prstGeom prst="ellipse">
            <a:avLst/>
          </a:prstGeom>
          <a:solidFill>
            <a:srgbClr val="5FAE7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7" name="Text 25"/>
          <p:cNvSpPr/>
          <p:nvPr/>
        </p:nvSpPr>
        <p:spPr>
          <a:xfrm>
            <a:off x="10122408" y="26334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464040" y="32735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4348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agent decides which CAMARA APIs to call based on context, not a button press.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0" y="512064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SEC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 Usage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42062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12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A4A"/>
                          </a:solidFill>
                        </a:rPr>
                        <a:t>API</a:t>
                      </a:r>
                      <a:endParaRPr lang="en-US" sz="15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8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A4A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8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A4A"/>
                          </a:solidFill>
                        </a:rPr>
                        <a:t>How SENTINEL Uses It</a:t>
                      </a:r>
                      <a:endParaRPr lang="en-US" sz="15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Location Verification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AAB2C0"/>
                          </a:solidFill>
                        </a:rPr>
                        <a:t>Confirms the reporter is physically near the incident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Primary trust signal for every report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Number Verification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AAB2C0"/>
                          </a:solidFill>
                        </a:rPr>
                        <a:t>Confirms the phone number is real and not spoofed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Blocks coordinated fake-report attacks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Device Status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AAB2C0"/>
                          </a:solidFill>
                        </a:rPr>
                        <a:t>Confirms the device is active and connected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Filters stale or resubmitted reports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6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Geofencing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AAB2C0"/>
                          </a:solidFill>
                        </a:rPr>
                        <a:t>Monitors high-risk zones for clustered activity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Triggers escalation for emerging incidents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41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AI System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2011680" y="2057400"/>
            <a:ext cx="914400" cy="914400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2011680" y="2057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Agent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379476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which CAMARA APIs to call based on report context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164592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5760720" y="2057400"/>
            <a:ext cx="914400" cy="91440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5760720" y="2057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0916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Agent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46320" y="379476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incidents by type, severity, and sector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75320" y="164592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24365C"/>
          </a:solidFill>
          <a:ln/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9509760" y="2057400"/>
            <a:ext cx="914400" cy="914400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9509760" y="2057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5820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95360" y="379476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emerging clusters and escalation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55778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CrewAI  |  Powered by Groq Llama 3.3 70B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46304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D9534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960120" y="1645920"/>
            <a:ext cx="201168" cy="201168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form / Telegram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9080" y="1463040"/>
            <a:ext cx="457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46304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4709160" y="164592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498348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orchestration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18120" y="1463040"/>
            <a:ext cx="457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75320" y="146304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D9534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8458200" y="1645920"/>
            <a:ext cx="201168" cy="201168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873252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58200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2788920"/>
            <a:ext cx="12188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77240" y="333756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hape 19"/>
          <p:cNvSpPr/>
          <p:nvPr/>
        </p:nvSpPr>
        <p:spPr>
          <a:xfrm>
            <a:off x="960120" y="35204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2" name="Text 20"/>
          <p:cNvSpPr/>
          <p:nvPr/>
        </p:nvSpPr>
        <p:spPr>
          <a:xfrm>
            <a:off x="1234440" y="34290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9080" y="3337560"/>
            <a:ext cx="457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526280" y="333756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5FAE7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hape 24"/>
          <p:cNvSpPr/>
          <p:nvPr/>
        </p:nvSpPr>
        <p:spPr>
          <a:xfrm>
            <a:off x="4709160" y="3520440"/>
            <a:ext cx="201168" cy="201168"/>
          </a:xfrm>
          <a:prstGeom prst="ellipse">
            <a:avLst/>
          </a:prstGeom>
          <a:solidFill>
            <a:srgbClr val="5FAE7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7" name="Text 25"/>
          <p:cNvSpPr/>
          <p:nvPr/>
        </p:nvSpPr>
        <p:spPr>
          <a:xfrm>
            <a:off x="4983480" y="34290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0916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818120" y="3337560"/>
            <a:ext cx="457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275320" y="333756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 w="1905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hape 29"/>
          <p:cNvSpPr/>
          <p:nvPr/>
        </p:nvSpPr>
        <p:spPr>
          <a:xfrm>
            <a:off x="8458200" y="3520440"/>
            <a:ext cx="201168" cy="201168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ext 30"/>
          <p:cNvSpPr/>
          <p:nvPr/>
        </p:nvSpPr>
        <p:spPr>
          <a:xfrm>
            <a:off x="8732520" y="34290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ALERTS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45820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/ Telegram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color-coded and traceable end to end, from citizen report to dispatched alert.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command center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24365C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185623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Incidents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2344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24365C"/>
          </a:solidFill>
          <a:ln w="12700">
            <a:solidFill>
              <a:srgbClr val="5FAE7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ext 7"/>
          <p:cNvSpPr/>
          <p:nvPr/>
        </p:nvSpPr>
        <p:spPr>
          <a:xfrm>
            <a:off x="3410712" y="13258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FA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10712" y="185623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Validation Time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2344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24365C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6272784" y="13258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72784" y="185623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 Avg.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34856" y="12344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24365C"/>
          </a:solidFill>
          <a:ln w="12700">
            <a:solidFill>
              <a:srgbClr val="D9534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9134856" y="13258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34856" y="185623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Today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514600"/>
            <a:ext cx="11091672" cy="3566160"/>
          </a:xfrm>
          <a:prstGeom prst="roundRect">
            <a:avLst>
              <a:gd name="adj" fmla="val 205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FEED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310896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ext 18"/>
          <p:cNvSpPr/>
          <p:nvPr/>
        </p:nvSpPr>
        <p:spPr>
          <a:xfrm>
            <a:off x="777240" y="31089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31720" y="310896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collision, Sheikh Zayed Rd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509760" y="31089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96%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8221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ext 22"/>
          <p:cNvSpPr/>
          <p:nvPr/>
        </p:nvSpPr>
        <p:spPr>
          <a:xfrm>
            <a:off x="777240" y="38221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31720" y="3822192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Flooding reported, Al Barsha underpass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09760" y="382219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88%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453542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8" name="Text 26"/>
          <p:cNvSpPr/>
          <p:nvPr/>
        </p:nvSpPr>
        <p:spPr>
          <a:xfrm>
            <a:off x="777240" y="45354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31720" y="453542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alarm, Business Bay tower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509760" y="453542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74%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77240" y="52486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FAE7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ext 30"/>
          <p:cNvSpPr/>
          <p:nvPr/>
        </p:nvSpPr>
        <p:spPr>
          <a:xfrm>
            <a:off x="777240" y="5248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331720" y="5248656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debris, Al Khail Road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509760" y="524865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61%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463040"/>
            <a:ext cx="3383280" cy="2971800"/>
          </a:xfrm>
          <a:prstGeom prst="roundRect">
            <a:avLst>
              <a:gd name="adj" fmla="val 3692"/>
            </a:avLst>
          </a:prstGeom>
          <a:solidFill>
            <a:srgbClr val="3A435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 incidents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3218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city zone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6027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only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6280" y="123444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D4A843"/>
          </a:solidFill>
          <a:ln/>
          <a:effectLst>
            <a:outerShdw blurRad="101600" dist="508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452628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1691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26280" y="21488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84632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1,000 incidents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218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 zones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027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Telegram alerts + API access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75320" y="1463040"/>
            <a:ext cx="3383280" cy="2971800"/>
          </a:xfrm>
          <a:prstGeom prst="roundRect">
            <a:avLst>
              <a:gd name="adj" fmla="val 3692"/>
            </a:avLst>
          </a:prstGeom>
          <a:solidFill>
            <a:srgbClr val="2E417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7"/>
          <p:cNvSpPr/>
          <p:nvPr/>
        </p:nvSpPr>
        <p:spPr>
          <a:xfrm>
            <a:off x="8275320" y="1691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75320" y="21488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$499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59536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incidents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95360" y="3218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zones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6027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integrations + SLA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Potential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UAE: 7 emirates, each with municipalities and police forces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72200" y="5257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14+ MENA countries with active smart city programs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4184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Enterprise clients: construction, utilities, transport authorities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72200" y="564184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Expands to any city with mobile network coverage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3-Minute Live Demo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841248" y="185166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841248" y="18516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64592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sample incident report via the web form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0" y="150876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hape 8"/>
          <p:cNvSpPr/>
          <p:nvPr/>
        </p:nvSpPr>
        <p:spPr>
          <a:xfrm>
            <a:off x="6601968" y="1851660"/>
            <a:ext cx="548640" cy="54864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ext 9"/>
          <p:cNvSpPr/>
          <p:nvPr/>
        </p:nvSpPr>
        <p:spPr>
          <a:xfrm>
            <a:off x="6601968" y="18516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164592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Validator Agent call Location, Number, and Device APIs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4" name="Shape 12"/>
          <p:cNvSpPr/>
          <p:nvPr/>
        </p:nvSpPr>
        <p:spPr>
          <a:xfrm>
            <a:off x="841248" y="336042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841248" y="33604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315468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trust score build in real time on screen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0" y="30175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Shape 16"/>
          <p:cNvSpPr/>
          <p:nvPr/>
        </p:nvSpPr>
        <p:spPr>
          <a:xfrm>
            <a:off x="6601968" y="3360420"/>
            <a:ext cx="548640" cy="548640"/>
          </a:xfrm>
          <a:prstGeom prst="ellipse">
            <a:avLst/>
          </a:prstGeom>
          <a:solidFill>
            <a:srgbClr val="5FAE7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7"/>
          <p:cNvSpPr/>
          <p:nvPr/>
        </p:nvSpPr>
        <p:spPr>
          <a:xfrm>
            <a:off x="6601968" y="33604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0" y="315468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Classifier Agent tag type, severity, and sector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2" name="Shape 20"/>
          <p:cNvSpPr/>
          <p:nvPr/>
        </p:nvSpPr>
        <p:spPr>
          <a:xfrm>
            <a:off x="841248" y="486918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1"/>
          <p:cNvSpPr/>
          <p:nvPr/>
        </p:nvSpPr>
        <p:spPr>
          <a:xfrm>
            <a:off x="841248" y="48691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466344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second nearby report to show anomaly clustering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0" y="452628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6" name="Shape 24"/>
          <p:cNvSpPr/>
          <p:nvPr/>
        </p:nvSpPr>
        <p:spPr>
          <a:xfrm>
            <a:off x="6601968" y="4869180"/>
            <a:ext cx="548640" cy="54864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7" name="Text 25"/>
          <p:cNvSpPr/>
          <p:nvPr/>
        </p:nvSpPr>
        <p:spPr>
          <a:xfrm>
            <a:off x="6601968" y="48691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15200" y="4663440"/>
            <a:ext cx="4251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validated alert land on the dashboard and in Telegram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0" y="617220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reasoning trace visible on screen throughout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675120" y="3657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CAMARA APIs orchestrated by a multi-agent AI system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1581912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Arabic, English, and Arabizi in one multilingual pipeline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 finds clusters before individual reports do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64261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dashboard, real database, real alert delivery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17296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developer who already shipped BASR (600+ signals)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pricing tiers, a viable business, not just a demo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233672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API-first design for incremental partner adoption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675120" y="10515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4" name="Text 12"/>
          <p:cNvSpPr/>
          <p:nvPr/>
        </p:nvSpPr>
        <p:spPr>
          <a:xfrm>
            <a:off x="6675120" y="118872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81228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to alert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0515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9189720" y="118872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signals per decision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26060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ext 18"/>
          <p:cNvSpPr/>
          <p:nvPr/>
        </p:nvSpPr>
        <p:spPr>
          <a:xfrm>
            <a:off x="6675120" y="274320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812280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covered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89720" y="26060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1"/>
          <p:cNvSpPr/>
          <p:nvPr/>
        </p:nvSpPr>
        <p:spPr>
          <a:xfrm>
            <a:off x="9189720" y="274320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326880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Emirates + MENA countries in reach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SENTINEL: Because every incident deserves to be verified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693</Words>
  <Application>Microsoft Office PowerPoint</Application>
  <PresentationFormat>Widescreen</PresentationFormat>
  <Paragraphs>186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Muhammed Mattath 2024006714</cp:lastModifiedBy>
  <cp:revision>3</cp:revision>
  <dcterms:created xsi:type="dcterms:W3CDTF">2026-08-19T19:39:22Z</dcterms:created>
  <dcterms:modified xsi:type="dcterms:W3CDTF">2026-08-19T20:25:57Z</dcterms:modified>
</cp:coreProperties>
</file>